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KSE Password
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78892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B8D8EC"/>
                </a:solidFill>
                <a:latin typeface="Aptos"/>
              </a:rPr>
              <a:t>Архітектура корпоративного менеджера паролів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337560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8D8EC"/>
                </a:solidFill>
                <a:latin typeface="Aptos"/>
              </a:rPr>
              <a:t>E2E-шифрування • Google Workspace SSO • командний доступ • аудит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261872"/>
            <a:ext cx="2514600" cy="3383280"/>
          </a:xfrm>
          <a:prstGeom prst="roundRect">
            <a:avLst/>
          </a:prstGeom>
          <a:solidFill>
            <a:srgbClr val="123958"/>
          </a:solidFill>
          <a:ln w="10160">
            <a:solidFill>
              <a:srgbClr val="12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42248" y="2029968"/>
            <a:ext cx="1371600" cy="1280160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81160" y="1591056"/>
            <a:ext cx="502920" cy="640080"/>
          </a:xfrm>
          <a:prstGeom prst="roundRect">
            <a:avLst/>
          </a:prstGeom>
          <a:solidFill>
            <a:srgbClr val="48CAE4"/>
          </a:solidFill>
          <a:ln w="1016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33688" y="2423160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E2E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4992624"/>
            <a:ext cx="2514600" cy="0"/>
          </a:xfrm>
          <a:prstGeom prst="line">
            <a:avLst/>
          </a:prstGeom>
          <a:ln w="127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55279" y="5285232"/>
            <a:ext cx="1115568" cy="274320"/>
          </a:xfrm>
          <a:prstGeom prst="roundRect">
            <a:avLst/>
          </a:prstGeom>
          <a:solidFill>
            <a:srgbClr val="123958"/>
          </a:solidFill>
          <a:ln w="10160">
            <a:solidFill>
              <a:srgbClr val="12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5317236"/>
            <a:ext cx="1115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48CAE4"/>
                </a:solidFill>
                <a:latin typeface="Aptos"/>
              </a:rPr>
              <a:t>React SPA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2288" y="5285232"/>
            <a:ext cx="1298448" cy="274320"/>
          </a:xfrm>
          <a:prstGeom prst="roundRect">
            <a:avLst/>
          </a:prstGeom>
          <a:solidFill>
            <a:srgbClr val="123958"/>
          </a:solidFill>
          <a:ln w="10160">
            <a:solidFill>
              <a:srgbClr val="12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2288" y="5317236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48CAE4"/>
                </a:solidFill>
                <a:latin typeface="Aptos"/>
              </a:rPr>
              <a:t>Spring Boot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43032" y="5285232"/>
            <a:ext cx="1005840" cy="274320"/>
          </a:xfrm>
          <a:prstGeom prst="roundRect">
            <a:avLst/>
          </a:prstGeom>
          <a:solidFill>
            <a:srgbClr val="123958"/>
          </a:solidFill>
          <a:ln w="10160">
            <a:solidFill>
              <a:srgbClr val="12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43032" y="5317236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48CAE4"/>
                </a:solidFill>
                <a:latin typeface="Aptos"/>
              </a:rPr>
              <a:t>Keycloak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17220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D8EC"/>
                </a:solidFill>
                <a:latin typeface="Aptos"/>
              </a:rPr>
              <a:t>Версія для огляду архітектури • 30 липня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Що вирішує застосунок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Корпоративний менеджер доступів без передачі секретів у чатах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63040"/>
            <a:ext cx="34290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63040"/>
            <a:ext cx="82296" cy="18288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27632"/>
            <a:ext cx="310896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Єдине сховище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306324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27D98"/>
                </a:solidFill>
                <a:latin typeface="Aptos"/>
              </a:rPr>
              <a:t>Паролі, API credentials, SSH keys, картки, secure notes і TOTP в одному vault.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63040"/>
            <a:ext cx="34290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463040"/>
            <a:ext cx="82296" cy="182880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27632"/>
            <a:ext cx="310896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Контрольований доступ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06324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27D98"/>
                </a:solidFill>
                <a:latin typeface="Aptos"/>
              </a:rPr>
              <a:t>Прямий sharing, командні Collections, ролі й контроль відкликання доступу.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63040"/>
            <a:ext cx="34290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63040"/>
            <a:ext cx="82296" cy="1828800"/>
          </a:xfrm>
          <a:prstGeom prst="rect">
            <a:avLst/>
          </a:prstGeom>
          <a:solidFill>
            <a:srgbClr val="34B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627632"/>
            <a:ext cx="310896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Безпечна прозорість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011680"/>
            <a:ext cx="306324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27D98"/>
                </a:solidFill>
                <a:latin typeface="Aptos"/>
              </a:rPr>
              <a:t>Audit log, аномалії, Google Workspace governance і policy-driven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Aptos"/>
              </a:rPr>
              <a:t>Ключовий принцип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70832"/>
            <a:ext cx="996696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Backend зберігає зашифровані дані, загорнуті ключі, метадані та правила доступу — але не plaintext-паролі й не vault passphrase.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49240"/>
            <a:ext cx="1078992" cy="274320"/>
          </a:xfrm>
          <a:prstGeom prst="roundRect">
            <a:avLst/>
          </a:prstGeom>
          <a:solidFill>
            <a:srgbClr val="E8F5FD"/>
          </a:solidFill>
          <a:ln w="10160">
            <a:solidFill>
              <a:srgbClr val="E8F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381244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77B6"/>
                </a:solidFill>
                <a:latin typeface="Aptos"/>
              </a:rPr>
              <a:t>API-first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5349240"/>
            <a:ext cx="1783080" cy="274320"/>
          </a:xfrm>
          <a:prstGeom prst="roundRect">
            <a:avLst/>
          </a:prstGeom>
          <a:solidFill>
            <a:srgbClr val="E5F7F3"/>
          </a:solidFill>
          <a:ln w="10160">
            <a:solidFill>
              <a:srgbClr val="E5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5381244"/>
            <a:ext cx="1783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B4A6"/>
                </a:solidFill>
                <a:latin typeface="Aptos"/>
              </a:rPr>
              <a:t>Zero-knowledge vault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67912" y="5349240"/>
            <a:ext cx="1682496" cy="274320"/>
          </a:xfrm>
          <a:prstGeom prst="roundRect">
            <a:avLst/>
          </a:prstGeom>
          <a:solidFill>
            <a:srgbClr val="EDF8F1"/>
          </a:solidFill>
          <a:ln w="10160">
            <a:solidFill>
              <a:srgbClr val="ED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7912" y="5381244"/>
            <a:ext cx="16824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34B27B"/>
                </a:solidFill>
                <a:latin typeface="Aptos"/>
              </a:rPr>
              <a:t>Google Workspace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5349240"/>
            <a:ext cx="1645920" cy="274320"/>
          </a:xfrm>
          <a:prstGeom prst="roundRect">
            <a:avLst/>
          </a:prstGeom>
          <a:solidFill>
            <a:srgbClr val="FFF5DB"/>
          </a:solidFill>
          <a:ln w="10160"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5381244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A66A00"/>
                </a:solidFill>
                <a:latin typeface="Aptos"/>
              </a:rPr>
              <a:t>Chrome extension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Карта системи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Клієнт шифрує; API керує політикою; зовнішні сервіси дають identity та encrypted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170432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1170432" cy="100584"/>
          </a:xfrm>
          <a:prstGeom prst="roundRect">
            <a:avLst/>
          </a:prstGeom>
          <a:solidFill>
            <a:srgbClr val="0077B6"/>
          </a:solidFill>
          <a:ln w="1016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987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React SPA
WebCrypto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98648"/>
            <a:ext cx="10241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27D98"/>
                </a:solidFill>
                <a:latin typeface="Aptos"/>
              </a:rPr>
              <a:t>browser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64792" y="2679192"/>
            <a:ext cx="246888" cy="0"/>
          </a:xfrm>
          <a:prstGeom prst="line">
            <a:avLst/>
          </a:prstGeom>
          <a:ln w="2286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11680" y="1965960"/>
            <a:ext cx="1170432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11680" y="1965960"/>
            <a:ext cx="1170432" cy="100584"/>
          </a:xfrm>
          <a:prstGeom prst="roundRect">
            <a:avLst/>
          </a:prstGeom>
          <a:solidFill>
            <a:srgbClr val="00B4A6"/>
          </a:solidFill>
          <a:ln w="1016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2231136"/>
            <a:ext cx="987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Chrome
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898648"/>
            <a:ext cx="10241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27D98"/>
                </a:solidFill>
                <a:latin typeface="Aptos"/>
              </a:rPr>
              <a:t>browser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82112" y="2679192"/>
            <a:ext cx="475488" cy="0"/>
          </a:xfrm>
          <a:prstGeom prst="line">
            <a:avLst/>
          </a:prstGeom>
          <a:ln w="2286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57600" y="1965960"/>
            <a:ext cx="1298448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0" y="1965960"/>
            <a:ext cx="1298448" cy="100584"/>
          </a:xfrm>
          <a:prstGeom prst="roundRect">
            <a:avLst/>
          </a:prstGeom>
          <a:solidFill>
            <a:srgbClr val="FFB703"/>
          </a:solidFill>
          <a:ln w="101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2231136"/>
            <a:ext cx="11155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nginx
TLS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898648"/>
            <a:ext cx="11521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27D98"/>
                </a:solidFill>
                <a:latin typeface="Aptos"/>
              </a:rPr>
              <a:t>public ingress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56048" y="2679192"/>
            <a:ext cx="329184" cy="0"/>
          </a:xfrm>
          <a:prstGeom prst="line">
            <a:avLst/>
          </a:prstGeom>
          <a:ln w="2286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85232" y="1965960"/>
            <a:ext cx="1389888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85232" y="1965960"/>
            <a:ext cx="1389888" cy="100584"/>
          </a:xfrm>
          <a:prstGeom prst="roundRect">
            <a:avLst/>
          </a:prstGeom>
          <a:solidFill>
            <a:srgbClr val="0077B6"/>
          </a:solidFill>
          <a:ln w="1016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231136"/>
            <a:ext cx="12070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Spring Boot
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2898648"/>
            <a:ext cx="12435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27D98"/>
                </a:solidFill>
                <a:latin typeface="Aptos"/>
              </a:rPr>
              <a:t>policy + audit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2679192"/>
            <a:ext cx="320040" cy="0"/>
          </a:xfrm>
          <a:prstGeom prst="line">
            <a:avLst/>
          </a:prstGeom>
          <a:ln w="2286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95160" y="1965960"/>
            <a:ext cx="1353312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95160" y="1965960"/>
            <a:ext cx="1353312" cy="100584"/>
          </a:xfrm>
          <a:prstGeom prst="roundRect">
            <a:avLst/>
          </a:prstGeom>
          <a:solidFill>
            <a:srgbClr val="5C6BC0"/>
          </a:solidFill>
          <a:ln w="1016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2231136"/>
            <a:ext cx="1170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PostgreSQL
Flyway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2898648"/>
            <a:ext cx="12070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27D98"/>
                </a:solidFill>
                <a:latin typeface="Aptos"/>
              </a:rPr>
              <a:t>ciphertext + policy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48472" y="2679192"/>
            <a:ext cx="356616" cy="0"/>
          </a:xfrm>
          <a:prstGeom prst="line">
            <a:avLst/>
          </a:prstGeom>
          <a:ln w="2286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705088" y="1965960"/>
            <a:ext cx="1261872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05088" y="1965960"/>
            <a:ext cx="1261872" cy="100584"/>
          </a:xfrm>
          <a:prstGeom prst="roundRect">
            <a:avLst/>
          </a:prstGeom>
          <a:solidFill>
            <a:srgbClr val="34B27B"/>
          </a:solidFill>
          <a:ln w="10160">
            <a:solidFill>
              <a:srgbClr val="34B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96528" y="2231136"/>
            <a:ext cx="10789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Keycloak
Google 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898648"/>
            <a:ext cx="1115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27D98"/>
                </a:solidFill>
                <a:latin typeface="Aptos"/>
              </a:rPr>
              <a:t>OIDC / JWT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66959" y="2679192"/>
            <a:ext cx="274321" cy="0"/>
          </a:xfrm>
          <a:prstGeom prst="line">
            <a:avLst/>
          </a:prstGeom>
          <a:ln w="2286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241280" y="1965960"/>
            <a:ext cx="1325880" cy="14173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41280" y="1965960"/>
            <a:ext cx="1325880" cy="100584"/>
          </a:xfrm>
          <a:prstGeom prst="roundRect">
            <a:avLst/>
          </a:prstGeom>
          <a:solidFill>
            <a:srgbClr val="2B8A3E"/>
          </a:solidFill>
          <a:ln w="1016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9" y="2231136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Google Workspace
Directory + Drive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2898648"/>
            <a:ext cx="11795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>
                <a:solidFill>
                  <a:srgbClr val="627D98"/>
                </a:solidFill>
                <a:latin typeface="Aptos"/>
              </a:rPr>
              <a:t>governance + files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89320" y="3913632"/>
            <a:ext cx="0" cy="704088"/>
          </a:xfrm>
          <a:prstGeom prst="line">
            <a:avLst/>
          </a:prstGeom>
          <a:ln w="20320">
            <a:solidFill>
              <a:srgbClr val="00B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89320" y="4617720"/>
            <a:ext cx="1691640" cy="0"/>
          </a:xfrm>
          <a:prstGeom prst="line">
            <a:avLst/>
          </a:prstGeom>
          <a:ln w="20320">
            <a:solidFill>
              <a:srgbClr val="00B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990088" y="1719072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27D98"/>
                </a:solidFill>
                <a:latin typeface="Aptos"/>
              </a:rPr>
              <a:t>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1719072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27D98"/>
                </a:solidFill>
                <a:latin typeface="Aptos"/>
              </a:rPr>
              <a:t>JWT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8" y="4315968"/>
            <a:ext cx="41605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9808" y="4315968"/>
            <a:ext cx="82296" cy="129844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" y="4480560"/>
            <a:ext cx="3840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Серверна межа довіри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" y="4864608"/>
            <a:ext cx="3794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27D98"/>
                </a:solidFill>
                <a:latin typeface="Aptos"/>
              </a:rPr>
              <a:t>REST API перевіряє identity, governance, ролі та audit. Він не виконує розшифрування vault-даних.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84648" y="4315968"/>
            <a:ext cx="290779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84648" y="4315968"/>
            <a:ext cx="82296" cy="129844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85816" y="4480560"/>
            <a:ext cx="2587752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Дані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85816" y="4864608"/>
            <a:ext cx="25420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PostgreSQL: cipher­text, envelopes, metadata, permissions, audit. Drive: лише encrypted attachments.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66760" y="4315968"/>
            <a:ext cx="290779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66760" y="4315968"/>
            <a:ext cx="82296" cy="1298448"/>
          </a:xfrm>
          <a:prstGeom prst="rect">
            <a:avLst/>
          </a:prstGeom>
          <a:solidFill>
            <a:srgbClr val="34B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67928" y="4480560"/>
            <a:ext cx="2587752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Identity і directory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67928" y="4864608"/>
            <a:ext cx="25420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Keycloak брокерує Google SSO. Workspace snapshot — реальна межа corporate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E2E-шифрування: ключі не покидають клієнт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Per-item key wrapping робить sharing багатокористувацьким без довіри до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496312" cy="1975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783080"/>
            <a:ext cx="411480" cy="41148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69948"/>
            <a:ext cx="4114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77440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Vault passphrase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16352"/>
            <a:ext cx="2103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У браузері виводить KEK через Argon2id або legacy PBKDF2.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2112" y="2587752"/>
            <a:ext cx="274320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8728" y="1600200"/>
            <a:ext cx="2496312" cy="1975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3320" y="1783080"/>
            <a:ext cx="411480" cy="411480"/>
          </a:xfrm>
          <a:prstGeom prst="ellipse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869948"/>
            <a:ext cx="4114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377440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RSA keypair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16352"/>
            <a:ext cx="2103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Private key AES-GCM encrypted KEK; public key доступний для sharing.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2587752"/>
            <a:ext cx="274320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91656" y="1600200"/>
            <a:ext cx="2496312" cy="1975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6248" y="1783080"/>
            <a:ext cx="411480" cy="41148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869948"/>
            <a:ext cx="4114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377440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Item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2816352"/>
            <a:ext cx="2103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Кожен запис має власний AES-256 key; поля шифруються AES-GCM.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87968" y="2587752"/>
            <a:ext cx="274320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44584" y="1600200"/>
            <a:ext cx="2496312" cy="1975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09176" y="1783080"/>
            <a:ext cx="411480" cy="411480"/>
          </a:xfrm>
          <a:prstGeom prst="ellipse">
            <a:avLst/>
          </a:prstGeom>
          <a:solidFill>
            <a:srgbClr val="34B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1869948"/>
            <a:ext cx="4114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377440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Wrapped envelopes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2816352"/>
            <a:ext cx="21031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Item key RSA-OAEP загорнутий для кожного отримувача доступу.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160520"/>
            <a:ext cx="10835640" cy="1143000"/>
          </a:xfrm>
          <a:prstGeom prst="roundRect">
            <a:avLst/>
          </a:prstGeom>
          <a:solidFill>
            <a:srgbClr val="E8F5FD"/>
          </a:solidFill>
          <a:ln w="10160">
            <a:solidFill>
              <a:srgbClr val="E8F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77B6"/>
                </a:solidFill>
                <a:latin typeface="Aptos"/>
              </a:rPr>
              <a:t>Collections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352544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02A43"/>
                </a:solidFill>
                <a:latin typeface="Aptos"/>
              </a:rPr>
              <a:t>Collection key RSA-wrapped для кожного члена → AES-wrap item keys у колекції. Додати учасника = створити один новий envelope, а не перешифровувати всі записи.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875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627D98"/>
                </a:solidFill>
                <a:latin typeface="Aptos"/>
              </a:rPr>
              <a:t>Revoke: клієнт спочатку ротує item або collection key, потім API прибирає доступ. Це захищає майбутні читання, але не стирає дані, уже скопійовані отримувачем.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Вхід і контроль доступу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Keycloak встановлює особу; локальний Workspace snapshot ухвалює рішення про доступ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251460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47088"/>
            <a:ext cx="310896" cy="274320"/>
          </a:xfrm>
          <a:prstGeom prst="roundRect">
            <a:avLst/>
          </a:prstGeom>
          <a:solidFill>
            <a:srgbClr val="34B27B"/>
          </a:solidFill>
          <a:ln w="10160">
            <a:solidFill>
              <a:srgbClr val="34B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9092"/>
            <a:ext cx="310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Google 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21305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0">
                <a:solidFill>
                  <a:srgbClr val="627D98"/>
                </a:solidFill>
                <a:latin typeface="Aptos"/>
              </a:rPr>
              <a:t>Користувач автентифікується корпоративним Google account.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2968" y="2514600"/>
            <a:ext cx="274320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11296" y="1645920"/>
            <a:ext cx="251460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75888" y="1847088"/>
            <a:ext cx="310896" cy="274320"/>
          </a:xfrm>
          <a:prstGeom prst="roundRect">
            <a:avLst/>
          </a:prstGeom>
          <a:solidFill>
            <a:srgbClr val="5C6BC0"/>
          </a:solidFill>
          <a:ln w="1016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1879092"/>
            <a:ext cx="310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31343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Keycloak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724912"/>
            <a:ext cx="21305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0">
                <a:solidFill>
                  <a:srgbClr val="627D98"/>
                </a:solidFill>
                <a:latin typeface="Aptos"/>
              </a:rPr>
              <a:t>Брокерує IdP, видає OIDC access token; passwordless passkey доступний як альтернатива.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25896" y="2514600"/>
            <a:ext cx="274320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64224" y="1645920"/>
            <a:ext cx="251460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8816" y="1847088"/>
            <a:ext cx="310896" cy="274320"/>
          </a:xfrm>
          <a:prstGeom prst="roundRect">
            <a:avLst/>
          </a:prstGeom>
          <a:solidFill>
            <a:srgbClr val="0077B6"/>
          </a:solidFill>
          <a:ln w="1016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1879092"/>
            <a:ext cx="310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231343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JWT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2724912"/>
            <a:ext cx="21305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0">
                <a:solidFill>
                  <a:srgbClr val="627D98"/>
                </a:solidFill>
                <a:latin typeface="Aptos"/>
              </a:rPr>
              <a:t>Spring Resource Server перевіряє signature та issuer.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78824" y="2514600"/>
            <a:ext cx="274320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17152" y="1645920"/>
            <a:ext cx="251460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81744" y="1847088"/>
            <a:ext cx="310896" cy="274320"/>
          </a:xfrm>
          <a:prstGeom prst="roundRect">
            <a:avLst/>
          </a:prstGeom>
          <a:solidFill>
            <a:srgbClr val="00B4A6"/>
          </a:solidFill>
          <a:ln w="10160">
            <a:solidFill>
              <a:srgbClr val="00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1879092"/>
            <a:ext cx="310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231343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2724912"/>
            <a:ext cx="21305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0">
                <a:solidFill>
                  <a:srgbClr val="627D98"/>
                </a:solidFill>
                <a:latin typeface="Aptos"/>
              </a:rPr>
              <a:t>Filter звіряє email з local Workspace snapshot і встановлює ефективну роль.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069080"/>
            <a:ext cx="324612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069080"/>
            <a:ext cx="82296" cy="121615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233672"/>
            <a:ext cx="2926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Corporate roles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4617720"/>
            <a:ext cx="2880360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USER • ADMIN • SECURITY
Джерело: Workspace snapshot, не JWT realm role.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8" y="4069080"/>
            <a:ext cx="324612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5968" y="4069080"/>
            <a:ext cx="82296" cy="121615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17136" y="4233672"/>
            <a:ext cx="2926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Record &amp; collection roles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136" y="4617720"/>
            <a:ext cx="2880360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OWNER / EDITOR / VIEWER / PASSKEY_ONLY
MANAGER / EDITOR / VIEWER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45552" y="4069080"/>
            <a:ext cx="324612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45552" y="4069080"/>
            <a:ext cx="82296" cy="1216152"/>
          </a:xfrm>
          <a:prstGeom prst="rect">
            <a:avLst/>
          </a:prstGeom>
          <a:solidFill>
            <a:srgbClr val="34B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233672"/>
            <a:ext cx="2926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Важлива межа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617720"/>
            <a:ext cx="2880360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Адмін читає audit, але не отримує auto-access до чужих ciphertext-ів або ключів.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7607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Degraded mode можливий лише на порожньому snapshot: in-domain SSO користувач отримує тільки USER. Його можна вимкнути для fail-closed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Backend і дані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Spring Boot 3 / Java 21: доменні модулі, REST API, Flyway та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8328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82296" cy="112471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30175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JWT, governance, rate limit, request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417320"/>
            <a:ext cx="338328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1417320"/>
            <a:ext cx="82296" cy="112471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1581912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vault +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1965960"/>
            <a:ext cx="30175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CRUD, versions, import, encrypted keys, recovery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1417320"/>
            <a:ext cx="338328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417320"/>
            <a:ext cx="82296" cy="112471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581912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sharing + collections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1965960"/>
            <a:ext cx="30175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Permissions, members, roles, key rotation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34640"/>
            <a:ext cx="338328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834640"/>
            <a:ext cx="82296" cy="1124712"/>
          </a:xfrm>
          <a:prstGeom prst="rect">
            <a:avLst/>
          </a:prstGeom>
          <a:solidFill>
            <a:srgbClr val="34B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999232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directory + google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383280"/>
            <a:ext cx="30175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Workspace snapshot, DWD token, sync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2834640"/>
            <a:ext cx="338328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2834640"/>
            <a:ext cx="82296" cy="112471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2999232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attachments + external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3383280"/>
            <a:ext cx="30175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Drive stream, public encrypted package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0456" y="2834640"/>
            <a:ext cx="338328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0456" y="2834640"/>
            <a:ext cx="82296" cy="1124712"/>
          </a:xfrm>
          <a:prstGeom prst="rect">
            <a:avLst/>
          </a:prstGeom>
          <a:solidFill>
            <a:srgbClr val="F05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4" y="2999232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passkeys +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3383280"/>
            <a:ext cx="301752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Extension-only credentials, events, anomalies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90288"/>
            <a:ext cx="10863072" cy="96012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791456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Aptos"/>
              </a:rPr>
              <a:t>PostgreSQL + Flyway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4952" y="4773168"/>
            <a:ext cx="7909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27D98"/>
                </a:solidFill>
                <a:latin typeface="Aptos"/>
              </a:rPr>
              <a:t>V1–V23 migrations • Hibernate ddl-auto=validate • ciphertext, key envelopes, access policy, Workspace snapshot, audit і metadata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52160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REST API-first: вебклієнт і extension — клієнти одного контракту; ця межа залишає шлях до mobile client без дублювання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Функціональні сценарії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Продуктові можливості розміщуються поверх однієї криптографічної та policy-моделі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444752"/>
            <a:ext cx="33832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1444752"/>
            <a:ext cx="82296" cy="135331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9344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30175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Typed records: LOGIN, API credentials, SSH key, card, secure note; versions, tags, CSV import/export.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3" y="1444752"/>
            <a:ext cx="33832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3" y="1444752"/>
            <a:ext cx="82296" cy="135331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609344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1993392"/>
            <a:ext cx="30175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User/group permissions; Collections для реального командного E2E-доступу; client-side key rotation.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3" y="1444752"/>
            <a:ext cx="33832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3" y="1444752"/>
            <a:ext cx="82296" cy="135331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1" y="1609344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External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1" y="1993392"/>
            <a:ext cx="30175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Окремий encrypted snapshot, TTL або one-time read; key залишається у URL fragment.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3072384"/>
            <a:ext cx="33832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" y="3072384"/>
            <a:ext cx="82296" cy="1353312"/>
          </a:xfrm>
          <a:prstGeom prst="rect">
            <a:avLst/>
          </a:prstGeom>
          <a:solidFill>
            <a:srgbClr val="34B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236976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Attachments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621024"/>
            <a:ext cx="30175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Encrypted file stream у per-owner Drive appDataFolder; metadata та checksum у Postgres.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3983" y="3072384"/>
            <a:ext cx="33832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43983" y="3072384"/>
            <a:ext cx="82296" cy="1353312"/>
          </a:xfrm>
          <a:prstGeom prst="rect">
            <a:avLst/>
          </a:prstGeom>
          <a:solidFill>
            <a:srgbClr val="F05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3236976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Security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1" y="3621024"/>
            <a:ext cx="30175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Після unlock: weak/reused/old/breached. HIBP бачить тільки SHA-1 prefix.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3" y="3072384"/>
            <a:ext cx="33832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3023" y="3072384"/>
            <a:ext cx="82296" cy="135331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1" y="3236976"/>
            <a:ext cx="30632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1" y="3621024"/>
            <a:ext cx="30175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Create/share/revoke/copy та security anomalies для ADMIN/SECURITY.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47488"/>
            <a:ext cx="103327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Local-only records лишаються тільки у browser localStorage під KEK: вони не доступні на інших пристроях, не можуть бути shared і не потрапляють у server backup.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715000"/>
            <a:ext cx="1508760" cy="274320"/>
          </a:xfrm>
          <a:prstGeom prst="roundRect">
            <a:avLst/>
          </a:prstGeom>
          <a:solidFill>
            <a:srgbClr val="E8F5FD"/>
          </a:solidFill>
          <a:ln w="10160">
            <a:solidFill>
              <a:srgbClr val="E8F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74700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77B6"/>
                </a:solidFill>
                <a:latin typeface="Aptos"/>
              </a:rPr>
              <a:t>Client-side crypto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50592" y="5715000"/>
            <a:ext cx="1600200" cy="274320"/>
          </a:xfrm>
          <a:prstGeom prst="roundRect">
            <a:avLst/>
          </a:prstGeom>
          <a:solidFill>
            <a:srgbClr val="E5F7F3"/>
          </a:solidFill>
          <a:ln w="10160">
            <a:solidFill>
              <a:srgbClr val="E5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0592" y="5747004"/>
            <a:ext cx="1600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B4A6"/>
                </a:solidFill>
                <a:latin typeface="Aptos"/>
              </a:rPr>
              <a:t>Policy-enforced 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528" y="5715000"/>
            <a:ext cx="1115568" cy="274320"/>
          </a:xfrm>
          <a:prstGeom prst="roundRect">
            <a:avLst/>
          </a:prstGeom>
          <a:solidFill>
            <a:srgbClr val="FFF5DB"/>
          </a:solidFill>
          <a:ln w="10160">
            <a:solidFill>
              <a:srgbClr val="FFF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4528" y="5747004"/>
            <a:ext cx="1115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A66A00"/>
                </a:solidFill>
                <a:latin typeface="Aptos"/>
              </a:rPr>
              <a:t>Auditability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Chrome extension: окремий клієнт із вузькою довірою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Manifest V3, origin-aware autofill і extension-only passkey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99616"/>
            <a:ext cx="2148840" cy="3474720"/>
          </a:xfrm>
          <a:prstGeom prst="roundRect">
            <a:avLst/>
          </a:prstGeom>
          <a:solidFill>
            <a:srgbClr val="E8F5FD"/>
          </a:solidFill>
          <a:ln w="10160">
            <a:solidFill>
              <a:srgbClr val="D5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77B6"/>
                </a:solidFill>
                <a:latin typeface="Aptos"/>
              </a:rPr>
              <a:t>Content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16916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tos"/>
              </a:rPr>
              <a:t>Показує picker, заповнює лише вибрані поля, сканує QR TOTP. Не отримує весь vault.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9663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27D98"/>
                </a:solidFill>
                <a:latin typeface="Aptos"/>
              </a:rPr>
              <a:t>Strict origin match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3182112"/>
            <a:ext cx="804672" cy="0"/>
          </a:xfrm>
          <a:prstGeom prst="line">
            <a:avLst/>
          </a:prstGeom>
          <a:ln w="2794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1499616"/>
            <a:ext cx="2148840" cy="3474720"/>
          </a:xfrm>
          <a:prstGeom prst="roundRect">
            <a:avLst/>
          </a:prstGeom>
          <a:solidFill>
            <a:srgbClr val="E5F7F3"/>
          </a:solidFill>
          <a:ln w="10160">
            <a:solidFill>
              <a:srgbClr val="CD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2" y="179222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0B4A6"/>
                </a:solidFill>
                <a:latin typeface="Aptos"/>
              </a:rPr>
              <a:t>Background 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13432"/>
            <a:ext cx="17007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tos"/>
              </a:rPr>
              <a:t>Пам'яттєва unlock-сесія, OIDC PKCE, API calls, TOTP, clipboard timeout і WebAuthn proxy.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4169663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27D98"/>
                </a:solidFill>
                <a:latin typeface="Aptos"/>
              </a:rPr>
              <a:t>Lock → clean memory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0448" y="3182112"/>
            <a:ext cx="804672" cy="0"/>
          </a:xfrm>
          <a:prstGeom prst="line">
            <a:avLst/>
          </a:prstGeom>
          <a:ln w="2794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3408" y="1499616"/>
            <a:ext cx="2148840" cy="3474720"/>
          </a:xfrm>
          <a:prstGeom prst="roundRect">
            <a:avLst/>
          </a:prstGeom>
          <a:solidFill>
            <a:srgbClr val="FFF5DB"/>
          </a:solidFill>
          <a:ln w="10160">
            <a:solidFill>
              <a:srgbClr val="FC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17922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A66A00"/>
                </a:solidFill>
                <a:latin typeface="Aptos"/>
              </a:rPr>
              <a:t>Web app bridge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2313432"/>
            <a:ext cx="170992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tos"/>
              </a:rPr>
              <a:t>App виконує vault WebAuthn ceremony; origin перевіряється на обох сторонах bridge.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4169663"/>
            <a:ext cx="18470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27D98"/>
                </a:solidFill>
                <a:latin typeface="Aptos"/>
              </a:rPr>
              <a:t>Unlock: app → extension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0536" y="3182112"/>
            <a:ext cx="804672" cy="0"/>
          </a:xfrm>
          <a:prstGeom prst="line">
            <a:avLst/>
          </a:prstGeom>
          <a:ln w="2794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83496" y="1499616"/>
            <a:ext cx="1792224" cy="3474720"/>
          </a:xfrm>
          <a:prstGeom prst="roundRect">
            <a:avLst/>
          </a:prstGeom>
          <a:solidFill>
            <a:srgbClr val="EDF8F1"/>
          </a:solidFill>
          <a:ln w="10160">
            <a:solidFill>
              <a:srgbClr val="D4F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1792224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4B27B"/>
                </a:solidFill>
                <a:latin typeface="Aptos"/>
              </a:rPr>
              <a:t>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313432"/>
            <a:ext cx="1325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tos"/>
              </a:rPr>
              <a:t>Passkey endpoints додатково перевіряють OAuth client ID та audience.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4169663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27D98"/>
                </a:solidFill>
                <a:latin typeface="Aptos"/>
              </a:rPr>
              <a:t>Chrome 115+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623560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627D98"/>
                </a:solidFill>
                <a:latin typeface="Aptos"/>
              </a:rPr>
              <a:t>Сайт ніколи не одержує full vault: extension передає контенту тільки дані для конкретної user-selected дії.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Google Workspace: governance без залежності від live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Локальний snapshot зменшує blast radius, навантаження й наслідки outage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47288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82296" cy="12801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312724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A. WIF (рекомендовано поза GCP)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308152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Keycloak client_credentials → Google STS → IAM signJwt. Без downloaded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47288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82296" cy="128016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12724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B. Attached service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8152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GCE/GKE metadata ADC → IAM signJwt. Keyless та self-renewing.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417320"/>
            <a:ext cx="3447288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417320"/>
            <a:ext cx="82296" cy="12801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581912"/>
            <a:ext cx="312724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C. JSON key — тільки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1965960"/>
            <a:ext cx="308152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Mount read-only, не класти в image/git, регулярно ротути.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"/>
              </a:rPr>
              <a:t>Sync і outage behavior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75887"/>
            <a:ext cx="2286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7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4B27B"/>
                </a:solidFill>
                <a:latin typeface="Aptos"/>
              </a:rPr>
              <a:t>Directory API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63240" y="4050791"/>
            <a:ext cx="429768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566160" y="3675887"/>
            <a:ext cx="2286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3904487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77B6"/>
                </a:solidFill>
                <a:latin typeface="Aptos"/>
              </a:rPr>
              <a:t>15 хв sync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52160" y="4050791"/>
            <a:ext cx="429768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55079" y="3675887"/>
            <a:ext cx="2286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3904487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B4A6"/>
                </a:solidFill>
                <a:latin typeface="Aptos"/>
              </a:rPr>
              <a:t>Local snapshot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79" y="4050791"/>
            <a:ext cx="429768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3999" y="3675887"/>
            <a:ext cx="2286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3999" y="3904487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C6BC0"/>
                </a:solidFill>
                <a:latin typeface="Aptos"/>
              </a:rPr>
              <a:t>Governance + picker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64608"/>
            <a:ext cx="103327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27D98"/>
                </a:solidFill>
                <a:latin typeface="Aptos"/>
              </a:defRPr>
            </a:pPr>
            <a:r>
              <a:t>Recipient search зазвичай працює зі snapshot, а не з Google на кожний символ.</a:t>
            </a:r>
          </a:p>
          <a:p>
            <a:pPr>
              <a:spcAft>
                <a:spcPts val="400"/>
              </a:spcAft>
              <a:defRPr sz="1300">
                <a:solidFill>
                  <a:srgbClr val="627D98"/>
                </a:solidFill>
                <a:latin typeface="Aptos"/>
              </a:defRPr>
            </a:pPr>
            <a:r>
              <a:t>Перший sync retry: 1 хв; після успіху — 15 хв. Старий snapshot зберігається при помилці.</a:t>
            </a:r>
          </a:p>
          <a:p>
            <a:pPr>
              <a:spcAft>
                <a:spcPts val="400"/>
              </a:spcAft>
              <a:defRPr sz="1300">
                <a:solidFill>
                  <a:srgbClr val="627D98"/>
                </a:solidFill>
                <a:latin typeface="Aptos"/>
              </a:defRPr>
            </a:pPr>
            <a:r>
              <a:t>Provisional access — тільки USER, тільки для in-domain account і тільки доки snapshot порожній.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Єдиний публічний edge, окремі origins для app і Keycloak, внутрішні сервіси без відкритих портів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2212848" cy="3886200"/>
          </a:xfrm>
          <a:prstGeom prst="roundRect">
            <a:avLst/>
          </a:prstGeom>
          <a:solidFill>
            <a:srgbClr val="E8F5FD"/>
          </a:solidFill>
          <a:ln w="10160">
            <a:solidFill>
              <a:srgbClr val="D5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077B6"/>
                </a:solidFill>
                <a:latin typeface="Aptos"/>
              </a:rPr>
              <a:t>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95728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02A43"/>
                </a:solidFill>
                <a:latin typeface="Aptos"/>
              </a:rPr>
              <a:t>https://pm.example.com
https://auth.pm.example.com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44368" y="3383280"/>
            <a:ext cx="822960" cy="0"/>
          </a:xfrm>
          <a:prstGeom prst="line">
            <a:avLst/>
          </a:prstGeom>
          <a:ln w="29209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85615" y="1417320"/>
            <a:ext cx="2039112" cy="3886200"/>
          </a:xfrm>
          <a:prstGeom prst="roundRect">
            <a:avLst/>
          </a:prstGeom>
          <a:solidFill>
            <a:srgbClr val="FFF5DB"/>
          </a:solidFill>
          <a:ln w="10160">
            <a:solidFill>
              <a:srgbClr val="FC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512" y="175564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A66A00"/>
                </a:solidFill>
                <a:latin typeface="Aptos"/>
              </a:rPr>
              <a:t>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2331720"/>
            <a:ext cx="1353312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02A43"/>
                </a:solidFill>
                <a:latin typeface="Aptos"/>
              </a:defRPr>
            </a:pPr>
            <a:r>
              <a:t>TLS termination</a:t>
            </a:r>
          </a:p>
          <a:p>
            <a:pPr>
              <a:spcAft>
                <a:spcPts val="400"/>
              </a:spcAft>
              <a:defRPr sz="1200">
                <a:solidFill>
                  <a:srgbClr val="102A43"/>
                </a:solidFill>
                <a:latin typeface="Aptos"/>
              </a:defRPr>
            </a:pPr>
            <a:r>
              <a:t>HSTS / CSP / headers</a:t>
            </a:r>
          </a:p>
          <a:p>
            <a:pPr>
              <a:spcAft>
                <a:spcPts val="400"/>
              </a:spcAft>
              <a:defRPr sz="1200">
                <a:solidFill>
                  <a:srgbClr val="102A43"/>
                </a:solidFill>
                <a:latin typeface="Aptos"/>
              </a:defRPr>
            </a:pPr>
            <a:r>
              <a:t>Health only public</a:t>
            </a:r>
          </a:p>
          <a:p>
            <a:pPr>
              <a:spcAft>
                <a:spcPts val="400"/>
              </a:spcAft>
              <a:defRPr sz="1200">
                <a:solidFill>
                  <a:srgbClr val="102A43"/>
                </a:solidFill>
                <a:latin typeface="Aptos"/>
              </a:defRPr>
            </a:pPr>
            <a:r>
              <a:t>Attachment streaming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43016" y="3383280"/>
            <a:ext cx="832104" cy="0"/>
          </a:xfrm>
          <a:prstGeom prst="line">
            <a:avLst/>
          </a:prstGeom>
          <a:ln w="29209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93408" y="1234440"/>
            <a:ext cx="4800600" cy="4343400"/>
          </a:xfrm>
          <a:prstGeom prst="roundRect">
            <a:avLst/>
          </a:prstGeom>
          <a:solidFill>
            <a:srgbClr val="F5F8FB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490472"/>
            <a:ext cx="42519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27D98"/>
                </a:solidFill>
                <a:latin typeface="Aptos"/>
              </a:rPr>
              <a:t>Внутрішня Docker-мережа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084831"/>
            <a:ext cx="181051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359151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77B6"/>
                </a:solidFill>
                <a:latin typeface="Aptos"/>
              </a:rPr>
              <a:t>Spring Boot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724911"/>
            <a:ext cx="16276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7D98"/>
                </a:solidFill>
                <a:latin typeface="Aptos"/>
              </a:rPr>
              <a:t>API + SPA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3728" y="2084831"/>
            <a:ext cx="181051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2359151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C6BC0"/>
                </a:solidFill>
                <a:latin typeface="Aptos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2724911"/>
            <a:ext cx="16276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7D98"/>
                </a:solidFill>
                <a:latin typeface="Aptos"/>
              </a:rPr>
              <a:t>data volume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767328"/>
            <a:ext cx="181051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4041648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4B27B"/>
                </a:solidFill>
                <a:latin typeface="Aptos"/>
              </a:rPr>
              <a:t>Keycloak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407408"/>
            <a:ext cx="16276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7D98"/>
                </a:solidFill>
                <a:latin typeface="Aptos"/>
              </a:rPr>
              <a:t>OIDC / realm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53728" y="3767328"/>
            <a:ext cx="181051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7" y="4041648"/>
            <a:ext cx="1627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B4A6"/>
                </a:solidFill>
                <a:latin typeface="Aptos"/>
              </a:rPr>
              <a:t>keycloak-init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7" y="4407408"/>
            <a:ext cx="16276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27D98"/>
                </a:solidFill>
                <a:latin typeface="Aptos"/>
              </a:rPr>
              <a:t>one-shot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7900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627D98"/>
                </a:solidFill>
                <a:latin typeface="Aptos"/>
              </a:rPr>
              <a:t>Secrets: Secret Manager або protected environment file. Ніколи не image/git. Перевірки: health, login/logout, decrypt, passkey, external share.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Security і операційна готовність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Defense-in-depth поєднує edge, API, encryption, audit і runbooks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08176"/>
            <a:ext cx="5166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08176"/>
            <a:ext cx="82296" cy="10515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4846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56816"/>
            <a:ext cx="480060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TLS, HSTS, CSP, nosniff, X-Frame-Options; Swagger/Actuator blocked externally.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734056"/>
            <a:ext cx="5166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734056"/>
            <a:ext cx="82296" cy="1051560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98648"/>
            <a:ext cx="4846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82696"/>
            <a:ext cx="480060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Stateless bearer tokens, rate limits, trusted proxy IP model, internal audit endpoint.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059935"/>
            <a:ext cx="5166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4059935"/>
            <a:ext cx="82296" cy="105156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24527"/>
            <a:ext cx="4846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Crypto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08575"/>
            <a:ext cx="480060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Passphrase та raw keys не зберігаються сервером; client-side AES-GCM / RSA-OAEP.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08176"/>
            <a:ext cx="5166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408176"/>
            <a:ext cx="82296" cy="10515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572768"/>
            <a:ext cx="4846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Backups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956816"/>
            <a:ext cx="480060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Щоденний PostgreSQL dump, off-host storage, Keycloak realm/DB backup, monthly restore test.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734056"/>
            <a:ext cx="5166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734056"/>
            <a:ext cx="82296" cy="1051560"/>
          </a:xfrm>
          <a:prstGeom prst="rect">
            <a:avLst/>
          </a:prstGeom>
          <a:solidFill>
            <a:srgbClr val="34B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898648"/>
            <a:ext cx="4846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282696"/>
            <a:ext cx="480060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ECS JSON logs із actorEmail/requestId; Prometheus внутрішньо; health endpoint.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059935"/>
            <a:ext cx="51663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059935"/>
            <a:ext cx="82296" cy="1051560"/>
          </a:xfrm>
          <a:prstGeom prst="rect">
            <a:avLst/>
          </a:prstGeom>
          <a:solidFill>
            <a:srgbClr val="F05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224527"/>
            <a:ext cx="48463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608575"/>
            <a:ext cx="480060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up=0, 5xx, 429, Hikari pending; audit anomalies для copy/share/revoke.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532120"/>
            <a:ext cx="10771632" cy="566928"/>
          </a:xfrm>
          <a:prstGeom prst="roundRect">
            <a:avLst/>
          </a:prstGeom>
          <a:solidFill>
            <a:srgbClr val="FFF5DB"/>
          </a:solidFill>
          <a:ln w="10160">
            <a:solidFill>
              <a:srgbClr val="FC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96712"/>
            <a:ext cx="10332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A4B00"/>
                </a:solidFill>
                <a:latin typeface="Aptos"/>
              </a:rPr>
              <a:t>Відновлення: server backup повертає server-synced cipher­text і envelopes, але не local-only records і не забутий passphrase.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Aptos"/>
              </a:rPr>
              <a:t>Обмеження, ризики та наступні кроки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27D98"/>
                </a:solidFill>
                <a:latin typeface="Aptos"/>
              </a:rPr>
              <a:t>Архітектура фіксує не лише можливості, а й чесні межі поточної реалізації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ptos"/>
              </a:rPr>
              <a:t>KSE Password Manager  •  Архітектурний огляд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9104" y="649224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27D9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44752"/>
            <a:ext cx="340156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44752"/>
            <a:ext cx="82296" cy="1307592"/>
          </a:xfrm>
          <a:prstGeom prst="rect">
            <a:avLst/>
          </a:prstGeom>
          <a:solidFill>
            <a:srgbClr val="F05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9344"/>
            <a:ext cx="30815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MFA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303580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Passkey підтримується, але не обов'язково перевіряється при кожному повторному Google 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44752"/>
            <a:ext cx="340156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44752"/>
            <a:ext cx="82296" cy="130759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09344"/>
            <a:ext cx="30815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Group 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3580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Прямий group-share не створює envelopes автоматично; для team E2E потрібні Collections.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444752"/>
            <a:ext cx="340156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444752"/>
            <a:ext cx="82296" cy="130759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609344"/>
            <a:ext cx="30815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Audit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1993392"/>
            <a:ext cx="303580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HTTP endpoint готовий, але Keycloak Event Listener SPI ще треба розгорнути і перевірити.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154680"/>
            <a:ext cx="340156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154680"/>
            <a:ext cx="82296" cy="130759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19272"/>
            <a:ext cx="30815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03320"/>
            <a:ext cx="303580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Rate limiter in-memory/per-node; горизонтальне масштабування потребує shared store (Redis/Bucket4j).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154680"/>
            <a:ext cx="340156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154680"/>
            <a:ext cx="82296" cy="1307592"/>
          </a:xfrm>
          <a:prstGeom prst="rect">
            <a:avLst/>
          </a:prstGeom>
          <a:solidFill>
            <a:srgbClr val="00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319272"/>
            <a:ext cx="30815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703320"/>
            <a:ext cx="303580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Server-side key escrow відсутній: offboarding вимагає попереднього sharing/Collections.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154680"/>
            <a:ext cx="340156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3154680"/>
            <a:ext cx="82296" cy="1307592"/>
          </a:xfrm>
          <a:prstGeom prst="rect">
            <a:avLst/>
          </a:prstGeom>
          <a:solidFill>
            <a:srgbClr val="34B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3319272"/>
            <a:ext cx="3081528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3703320"/>
            <a:ext cx="3035808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Mobile client, Firefox/Safari, enterprise policies та richer security monitoring.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166360"/>
            <a:ext cx="10744200" cy="594360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0096"/>
            <a:ext cx="10332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Головний висновок: застосунок тримає централізовану політику та аудит, не перетворюючи backend на власника секретів.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